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60" r:id="rId4"/>
    <p:sldId id="261" r:id="rId5"/>
    <p:sldId id="262" r:id="rId6"/>
    <p:sldId id="266" r:id="rId7"/>
    <p:sldId id="263" r:id="rId8"/>
    <p:sldId id="274" r:id="rId9"/>
    <p:sldId id="267" r:id="rId10"/>
    <p:sldId id="269" r:id="rId11"/>
    <p:sldId id="268" r:id="rId12"/>
    <p:sldId id="272" r:id="rId13"/>
    <p:sldId id="270" r:id="rId14"/>
    <p:sldId id="265" r:id="rId15"/>
    <p:sldId id="264" r:id="rId16"/>
    <p:sldId id="271" r:id="rId17"/>
    <p:sldId id="273" r:id="rId18"/>
    <p:sldId id="258" r:id="rId19"/>
  </p:sldIdLst>
  <p:sldSz cx="9144000" cy="6858000" type="screen4x3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8T22:32:31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8T22:32:31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Ορθογώνιο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Στρογγυλεμένο ορθογώνιο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Υπότιτλος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l-GR"/>
              <a:t>Στυλ κύριου υπότιτλου</a:t>
            </a:r>
            <a:endParaRPr kumimoji="0" lang="en-US"/>
          </a:p>
        </p:txBody>
      </p:sp>
      <p:sp>
        <p:nvSpPr>
          <p:cNvPr id="28" name="Θέση ημερομηνίας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17" name="Θέση υποσέλιδου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29" name="Θέση αριθμού διαφάνειας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7" name="Ορθογώνιο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Ορθογώνιο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Ορθογώνιο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Τίτλος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l-GR"/>
              <a:t>Στυλ κύριου τίτλου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8" name="Θέση περιεχομένου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Ορθογώνιο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Στρογγυλεμένο ορθογώνιο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l-GR" dirty="0"/>
          </a:p>
        </p:txBody>
      </p:sp>
      <p:sp>
        <p:nvSpPr>
          <p:cNvPr id="7" name="Ορθογώνιο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Ορθογώνιο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Ορθογώνιο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9" name="Θέση περιεχομένου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11" name="Θέση περιεχομένου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Στυλ υποδείγματος κειμένου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Στυλ υποδείγματος κειμένου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1" name="Θέση περιεχομένου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13" name="Θέση περιεχομένου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Ορθογώνιο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Στρογγυλεμένο ορθογώνιο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1" name="Θέση περιεχομένου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l-GR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1" name="Ορθογώνιο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Ορθογώνιο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Ορθογώνιο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l-GR" dirty="0"/>
              <a:t>Κάντε κλικ στο εικονίδιο για να προσθέσετε μια εικόνα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l-GR"/>
              <a:t>Στυλ υποδείγματος κειμένου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Ορθογώνιο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Στρογγυλεμένο ορθογώνιο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Θέση τίτλου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l-GR"/>
              <a:t>Στυλ κύριου τίτλου</a:t>
            </a:r>
            <a:endParaRPr kumimoji="0" lang="en-US"/>
          </a:p>
        </p:txBody>
      </p:sp>
      <p:sp>
        <p:nvSpPr>
          <p:cNvPr id="13" name="Θέση κειμένου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l-GR"/>
              <a:t>Στυλ υποδείγματος κειμένου</a:t>
            </a:r>
          </a:p>
          <a:p>
            <a:pPr lvl="1" eaLnBrk="1" latinLnBrk="0" hangingPunct="1"/>
            <a:r>
              <a:rPr kumimoji="0" lang="el-GR"/>
              <a:t>Δεύτερου επιπέδου</a:t>
            </a:r>
          </a:p>
          <a:p>
            <a:pPr lvl="2" eaLnBrk="1" latinLnBrk="0" hangingPunct="1"/>
            <a:r>
              <a:rPr kumimoji="0" lang="el-GR"/>
              <a:t>Τρίτου επιπέδου</a:t>
            </a:r>
          </a:p>
          <a:p>
            <a:pPr lvl="3" eaLnBrk="1" latinLnBrk="0" hangingPunct="1"/>
            <a:r>
              <a:rPr kumimoji="0" lang="el-GR"/>
              <a:t>Τέταρτου επιπέδου</a:t>
            </a:r>
          </a:p>
          <a:p>
            <a:pPr lvl="4" eaLnBrk="1" latinLnBrk="0" hangingPunct="1"/>
            <a:r>
              <a:rPr kumimoji="0" lang="el-GR"/>
              <a:t>Πέμπτου επιπέδου</a:t>
            </a:r>
            <a:endParaRPr kumimoji="0" lang="en-US"/>
          </a:p>
        </p:txBody>
      </p:sp>
      <p:sp>
        <p:nvSpPr>
          <p:cNvPr id="14" name="Θέση ημερομηνίας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5133683-2C28-4158-8349-800F1452C998}" type="datetimeFigureOut">
              <a:rPr lang="el-GR" smtClean="0"/>
              <a:t>19/5/2025</a:t>
            </a:fld>
            <a:endParaRPr lang="el-GR" dirty="0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l-GR" dirty="0"/>
          </a:p>
        </p:txBody>
      </p:sp>
      <p:sp>
        <p:nvSpPr>
          <p:cNvPr id="23" name="Θέση αριθμού διαφάνειας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2E1F4E2-E84D-4075-8F85-7D03549478AF}" type="slidenum">
              <a:rPr lang="el-GR" smtClean="0"/>
              <a:t>‹#›</a:t>
            </a:fld>
            <a:endParaRPr lang="el-G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1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331640" y="3789040"/>
            <a:ext cx="6768752" cy="116815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l-GR" sz="4200" dirty="0"/>
              <a:t>Τα μέλη της ομάδας: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4200" dirty="0"/>
              <a:t>Σουλελέ Αναστασία, ΑΜ: </a:t>
            </a:r>
            <a:r>
              <a:rPr lang="en-US" sz="4200" dirty="0"/>
              <a:t> </a:t>
            </a:r>
            <a:r>
              <a:rPr lang="en-US" sz="5100" dirty="0"/>
              <a:t>1084612</a:t>
            </a:r>
            <a:r>
              <a:rPr lang="el-GR" sz="4200" dirty="0"/>
              <a:t> , 5</a:t>
            </a:r>
            <a:r>
              <a:rPr lang="el-GR" sz="4200" baseline="30000" dirty="0"/>
              <a:t>ο</a:t>
            </a:r>
            <a:r>
              <a:rPr lang="el-GR" sz="4200" dirty="0"/>
              <a:t> Έτος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4200" dirty="0"/>
              <a:t>Νασιέλη Βασιλική, ΑΜ: 1090034 , 5</a:t>
            </a:r>
            <a:r>
              <a:rPr lang="el-GR" sz="4200" baseline="30000" dirty="0"/>
              <a:t>ο</a:t>
            </a:r>
            <a:r>
              <a:rPr lang="el-GR" sz="4200" dirty="0"/>
              <a:t> Έτος</a:t>
            </a:r>
          </a:p>
          <a:p>
            <a:pPr algn="l"/>
            <a:endParaRPr lang="el-GR" dirty="0"/>
          </a:p>
          <a:p>
            <a:pPr algn="l"/>
            <a:endParaRPr lang="el-GR" dirty="0"/>
          </a:p>
          <a:p>
            <a:pPr algn="l"/>
            <a:endParaRPr lang="el-GR" dirty="0"/>
          </a:p>
          <a:p>
            <a:pPr algn="l"/>
            <a:endParaRPr lang="el-GR" dirty="0"/>
          </a:p>
          <a:p>
            <a:endParaRPr lang="el-GR" dirty="0"/>
          </a:p>
        </p:txBody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187624" y="1988840"/>
            <a:ext cx="6912768" cy="504057"/>
          </a:xfrm>
        </p:spPr>
        <p:txBody>
          <a:bodyPr>
            <a:noAutofit/>
          </a:bodyPr>
          <a:lstStyle/>
          <a:p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Ανίχνευση Ανώμαλων Μοτίβων Κινητικότητας</a:t>
            </a:r>
            <a:b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Σε Χωρική Χρονική Δραστηριότητα 5G</a:t>
            </a:r>
          </a:p>
        </p:txBody>
      </p:sp>
    </p:spTree>
    <p:extLst>
      <p:ext uri="{BB962C8B-B14F-4D97-AF65-F5344CB8AC3E}">
        <p14:creationId xmlns:p14="http://schemas.microsoft.com/office/powerpoint/2010/main" val="252020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σε Δίκτυα 5G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/>
          <p:cNvSpPr>
            <a:spLocks noGrp="1"/>
          </p:cNvSpPr>
          <p:nvPr>
            <p:ph sz="quarter" idx="1"/>
          </p:nvPr>
        </p:nvSpPr>
        <p:spPr>
          <a:xfrm>
            <a:off x="827584" y="1628800"/>
            <a:ext cx="7272808" cy="129614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l-GR" dirty="0">
                <a:latin typeface="+mj-lt"/>
              </a:rPr>
              <a:t>Η </a:t>
            </a:r>
            <a:r>
              <a:rPr lang="el-GR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Ανίχνευση Ανωμαλιών</a:t>
            </a:r>
            <a:r>
              <a:rPr lang="el-GR" b="1" dirty="0">
                <a:latin typeface="+mj-lt"/>
              </a:rPr>
              <a:t> </a:t>
            </a:r>
            <a:r>
              <a:rPr lang="el-GR" dirty="0">
                <a:latin typeface="+mj-lt"/>
              </a:rPr>
              <a:t>αναφέρεται στη διαδικασία εντοπισμού ασυνήθιστων ή μη</a:t>
            </a:r>
            <a:r>
              <a:rPr lang="en-US" dirty="0">
                <a:latin typeface="+mj-lt"/>
              </a:rPr>
              <a:t> </a:t>
            </a:r>
            <a:r>
              <a:rPr lang="el-GR" dirty="0">
                <a:latin typeface="+mj-lt"/>
              </a:rPr>
              <a:t>φυσιολογικών μοτίβων σε δεδομένα, τα οποία αποκλίνουν από τη συνηθισμένη συμπεριφορά. Σε ένα δίκτυο 5G, όπου η κυκλοφορία δεδομένων είναι εξαιρετικά δυναμική και περίπλοκη, η ανίχνευση ανωμαλιών παίζει καθοριστικό ρόλο στη διατήρηση της </a:t>
            </a:r>
            <a:r>
              <a:rPr lang="el-GR" b="1" dirty="0">
                <a:latin typeface="+mj-lt"/>
              </a:rPr>
              <a:t>απόδοσης</a:t>
            </a:r>
            <a:r>
              <a:rPr lang="el-GR" dirty="0">
                <a:latin typeface="+mj-lt"/>
              </a:rPr>
              <a:t>, της </a:t>
            </a:r>
            <a:r>
              <a:rPr lang="el-GR" b="1" dirty="0">
                <a:latin typeface="+mj-lt"/>
              </a:rPr>
              <a:t>ασφάλειας</a:t>
            </a:r>
            <a:r>
              <a:rPr lang="el-GR" dirty="0">
                <a:latin typeface="+mj-lt"/>
              </a:rPr>
              <a:t> και της </a:t>
            </a:r>
            <a:r>
              <a:rPr lang="el-GR" b="1" dirty="0">
                <a:latin typeface="+mj-lt"/>
              </a:rPr>
              <a:t>αξιοπιστίας</a:t>
            </a:r>
            <a:r>
              <a:rPr lang="el-GR" dirty="0">
                <a:latin typeface="+mj-lt"/>
              </a:rPr>
              <a:t> του συστήματος.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quarter" idx="2"/>
          </p:nvPr>
        </p:nvSpPr>
        <p:spPr>
          <a:xfrm>
            <a:off x="971600" y="3284984"/>
            <a:ext cx="6984776" cy="3094856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l-GR" b="1" dirty="0">
                <a:solidFill>
                  <a:schemeClr val="accent1">
                    <a:lumMod val="75000"/>
                  </a:schemeClr>
                </a:solidFill>
              </a:rPr>
              <a:t>Σημασία της Ανίχνευσης Ανωμαλιών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l-GR" b="1" dirty="0">
                <a:latin typeface="Calibri" panose="020F0502020204030204" pitchFamily="34" charset="0"/>
                <a:cs typeface="Calibri" panose="020F0502020204030204" pitchFamily="34" charset="0"/>
              </a:rPr>
              <a:t>σφάλεια Δικτύου: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Η ανίχνευση ανωμαλιών μπορεί να εντοπίσει κυβερνοεπιθέσεις,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όπως επιθέσεις DoS (Denial of Service), ανωμαλίες στην ταυτοποίηση χρηστών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και παραβιάσεις ασφαλείας, προστατεύοντας τα δίκτυα 5G από κακόβουλες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δραστηριότητες.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cs typeface="Calibri" panose="020F0502020204030204" pitchFamily="34" charset="0"/>
              </a:rPr>
              <a:t>Αποδοτικότητα και Βελτιστοποίηση Δικτύου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: Ανιχνεύοντας απροσδόκητες αιχμές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κίνησης ή δυσλειτουργίες σε κόμβους του δικτύου, οι πάροχοι μπορούν να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προσαρμόσουν τη διαχείριση πόρων και να βελτιώσουν την ποιότητα των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υπηρεσιών (QoS).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cs typeface="Calibri" panose="020F0502020204030204" pitchFamily="34" charset="0"/>
              </a:rPr>
              <a:t>Ανίχνευση Μη Κανονικής Κινητικότητας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: Οι ανωμαλίες στη χωρική και χρονική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κινητικότητα των χρηστών, όπως ξαφνικές αλλαγές θέσης ή ασυνήθιστες μετακινήσεις,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μπορεί να υποδηλώνουν σφάλματα δικτύου ή ακόμα και απόπειρες υποκλοπής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δεδομένων.</a:t>
            </a:r>
          </a:p>
        </p:txBody>
      </p:sp>
    </p:spTree>
    <p:extLst>
      <p:ext uri="{BB962C8B-B14F-4D97-AF65-F5344CB8AC3E}">
        <p14:creationId xmlns:p14="http://schemas.microsoft.com/office/powerpoint/2010/main" val="115216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Ανάλυση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Milano Dataset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/>
          <p:cNvSpPr>
            <a:spLocks noGrp="1"/>
          </p:cNvSpPr>
          <p:nvPr>
            <p:ph sz="quarter" idx="1"/>
          </p:nvPr>
        </p:nvSpPr>
        <p:spPr>
          <a:xfrm>
            <a:off x="899592" y="1484784"/>
            <a:ext cx="7546032" cy="1621160"/>
          </a:xfrm>
        </p:spPr>
        <p:txBody>
          <a:bodyPr>
            <a:noAutofit/>
          </a:bodyPr>
          <a:lstStyle/>
          <a:p>
            <a:r>
              <a:rPr lang="el-GR" sz="1600" dirty="0">
                <a:latin typeface="+mj-lt"/>
              </a:rPr>
              <a:t>Το </a:t>
            </a:r>
            <a:r>
              <a:rPr lang="el-GR" sz="1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Milano Telecom Dataset </a:t>
            </a:r>
            <a:r>
              <a:rPr lang="el-GR" sz="1600" dirty="0">
                <a:latin typeface="+mj-lt"/>
              </a:rPr>
              <a:t>περιέχει δεδομένα κινητικότητας και τηλεπικοινωνιακής</a:t>
            </a:r>
            <a:r>
              <a:rPr lang="en-US" sz="1600" dirty="0">
                <a:latin typeface="+mj-lt"/>
              </a:rPr>
              <a:t> </a:t>
            </a:r>
            <a:r>
              <a:rPr lang="el-GR" sz="1600" dirty="0">
                <a:latin typeface="+mj-lt"/>
              </a:rPr>
              <a:t>δραστηριότητας στην πόλη του Μιλάνο. Τα δεδομένα αυτά προέρχονται από</a:t>
            </a:r>
            <a:r>
              <a:rPr lang="en-US" sz="1600" dirty="0">
                <a:latin typeface="+mj-lt"/>
              </a:rPr>
              <a:t> </a:t>
            </a:r>
            <a:r>
              <a:rPr lang="el-GR" sz="1600" dirty="0">
                <a:latin typeface="+mj-lt"/>
              </a:rPr>
              <a:t>τηλεπικοινωνιακές κεραίες και περιλαμβάνουν χωρικές και χρονικές πληροφορίες σχετικά</a:t>
            </a:r>
            <a:r>
              <a:rPr lang="en-US" sz="1600" dirty="0">
                <a:latin typeface="+mj-lt"/>
              </a:rPr>
              <a:t> </a:t>
            </a:r>
            <a:r>
              <a:rPr lang="el-GR" sz="1600" dirty="0">
                <a:latin typeface="+mj-lt"/>
              </a:rPr>
              <a:t>με τη χρήση του δικτύου</a:t>
            </a:r>
            <a:r>
              <a:rPr lang="en-US" sz="1600" dirty="0">
                <a:latin typeface="+mj-lt"/>
              </a:rPr>
              <a:t> </a:t>
            </a:r>
            <a:r>
              <a:rPr lang="el-GR" sz="1600" dirty="0">
                <a:latin typeface="+mj-lt"/>
              </a:rPr>
              <a:t>στην περιοχή.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quarter" idx="2"/>
          </p:nvPr>
        </p:nvSpPr>
        <p:spPr>
          <a:xfrm>
            <a:off x="899592" y="2852936"/>
            <a:ext cx="7632848" cy="25187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l-GR" sz="2900" u="sng" dirty="0">
                <a:latin typeface="+mj-lt"/>
              </a:rPr>
              <a:t>Τα κύρια χαρακτηριστικά του περιλαμβάνουν:</a:t>
            </a:r>
          </a:p>
          <a:p>
            <a:r>
              <a:rPr lang="el-GR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Timestamp: </a:t>
            </a:r>
            <a:r>
              <a:rPr lang="el-GR" dirty="0">
                <a:latin typeface="+mj-lt"/>
              </a:rPr>
              <a:t>Αντιπροσωπεύει τη χρονική περίοδο στην οποία συλλέχθηκαν τα δεδομένα.</a:t>
            </a:r>
          </a:p>
          <a:p>
            <a:r>
              <a:rPr lang="el-GR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Geolocation: </a:t>
            </a:r>
            <a:r>
              <a:rPr lang="el-GR" dirty="0">
                <a:latin typeface="+mj-lt"/>
              </a:rPr>
              <a:t>Δείχνει την περιοχή (πλέγμα κελιών) στην</a:t>
            </a:r>
            <a:r>
              <a:rPr lang="en-US" dirty="0">
                <a:latin typeface="+mj-lt"/>
              </a:rPr>
              <a:t> </a:t>
            </a:r>
            <a:r>
              <a:rPr lang="el-GR" dirty="0">
                <a:latin typeface="+mj-lt"/>
              </a:rPr>
              <a:t>οποία καταγράφηκε η τηλεπικοινωνιακή δραστηριότητα.</a:t>
            </a:r>
          </a:p>
          <a:p>
            <a:r>
              <a:rPr lang="el-GR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Call Activity: </a:t>
            </a:r>
            <a:r>
              <a:rPr lang="el-GR" dirty="0">
                <a:latin typeface="+mj-lt"/>
              </a:rPr>
              <a:t>Πληροφορίες για εισερχόμενες και εξερχόμενες</a:t>
            </a:r>
            <a:r>
              <a:rPr lang="en-US" dirty="0">
                <a:latin typeface="+mj-lt"/>
              </a:rPr>
              <a:t> </a:t>
            </a:r>
            <a:r>
              <a:rPr lang="el-GR" dirty="0">
                <a:latin typeface="+mj-lt"/>
              </a:rPr>
              <a:t>κλήσεις.</a:t>
            </a:r>
          </a:p>
          <a:p>
            <a:r>
              <a:rPr lang="el-GR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SMS Activity:</a:t>
            </a:r>
            <a:r>
              <a:rPr lang="el-GR" dirty="0">
                <a:latin typeface="+mj-lt"/>
              </a:rPr>
              <a:t> Αριθμός αποσταλμένων και ληφθέντων</a:t>
            </a:r>
            <a:r>
              <a:rPr lang="en-US" dirty="0">
                <a:latin typeface="+mj-lt"/>
              </a:rPr>
              <a:t> </a:t>
            </a:r>
            <a:r>
              <a:rPr lang="el-GR" dirty="0">
                <a:latin typeface="+mj-lt"/>
              </a:rPr>
              <a:t>SMS.</a:t>
            </a:r>
          </a:p>
          <a:p>
            <a:r>
              <a:rPr lang="el-GR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Internet Traffic : </a:t>
            </a:r>
            <a:r>
              <a:rPr lang="el-GR" dirty="0">
                <a:latin typeface="+mj-lt"/>
              </a:rPr>
              <a:t>Ποσότητα δεδομένων που χρησιμοποιήθηκε</a:t>
            </a:r>
            <a:r>
              <a:rPr lang="en-US" dirty="0">
                <a:latin typeface="+mj-lt"/>
              </a:rPr>
              <a:t> </a:t>
            </a:r>
            <a:r>
              <a:rPr lang="el-GR" dirty="0">
                <a:latin typeface="+mj-lt"/>
              </a:rPr>
              <a:t>στην αντίστοιχη περιοχή και χρονική στιγμή.</a:t>
            </a:r>
          </a:p>
        </p:txBody>
      </p:sp>
    </p:spTree>
    <p:extLst>
      <p:ext uri="{BB962C8B-B14F-4D97-AF65-F5344CB8AC3E}">
        <p14:creationId xmlns:p14="http://schemas.microsoft.com/office/powerpoint/2010/main" val="201205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l-GR" dirty="0"/>
              <a:t>Ορισμός και Μελέτη τεχνικών ανίχνευσης ανωμαλιών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6840760" cy="2304256"/>
          </a:xfrm>
        </p:spPr>
        <p:txBody>
          <a:bodyPr>
            <a:normAutofit fontScale="85000" lnSpcReduction="10000"/>
          </a:bodyPr>
          <a:lstStyle/>
          <a:p>
            <a:r>
              <a:rPr lang="el-GR" dirty="0"/>
              <a:t>Οι ανωμαλίες μπορούν να ταξινομηθούν ως εξής: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l-GR" sz="1800" b="1" dirty="0">
                <a:solidFill>
                  <a:schemeClr val="accent1">
                    <a:lumMod val="75000"/>
                  </a:schemeClr>
                </a:solidFill>
              </a:rPr>
              <a:t>Ανωμαλίες όγκου χρήσης</a:t>
            </a:r>
            <a:r>
              <a:rPr lang="el-GR" sz="1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l-GR" sz="1800" dirty="0"/>
              <a:t> Ξαφνική αύξηση ή μείωση στον αριθμό των κλήσεων, SMS ή της χρήσης δεδομένων.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l-GR" sz="1800" b="1" dirty="0">
                <a:solidFill>
                  <a:schemeClr val="accent1">
                    <a:lumMod val="75000"/>
                  </a:schemeClr>
                </a:solidFill>
              </a:rPr>
              <a:t>Χρονικές ανωμαλίες: </a:t>
            </a:r>
            <a:r>
              <a:rPr lang="el-GR" sz="1800" dirty="0"/>
              <a:t>Απότομες αλλαγές στη δραστηριότητα σε ώρες που δεν αναμένονται υψηλά επίπεδα χρήσης.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l-GR" sz="1800" b="1" dirty="0">
                <a:solidFill>
                  <a:schemeClr val="accent1">
                    <a:lumMod val="75000"/>
                  </a:schemeClr>
                </a:solidFill>
              </a:rPr>
              <a:t>Χωρικές ανωμαλίες: </a:t>
            </a:r>
            <a:r>
              <a:rPr lang="el-GR" sz="1800" dirty="0"/>
              <a:t>Υπερβολική δραστηριότητα σε περιοχές που συνήθως παρουσιάζουν χαμηλή κίνηση.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l-GR" sz="1800" b="1" dirty="0">
                <a:solidFill>
                  <a:schemeClr val="accent1">
                    <a:lumMod val="75000"/>
                  </a:schemeClr>
                </a:solidFill>
              </a:rPr>
              <a:t>Αλλαγές στα μοτίβα χρήσης: </a:t>
            </a:r>
            <a:r>
              <a:rPr lang="el-GR" sz="1800" dirty="0"/>
              <a:t>Διακυμάνσεις στη δραστηριότητα μιας κυψέλης που αποκλίνουν σημαντικά από το συνηθισμένο μοτίβο.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quarter" idx="2"/>
          </p:nvPr>
        </p:nvSpPr>
        <p:spPr>
          <a:xfrm>
            <a:off x="179512" y="3933056"/>
            <a:ext cx="7999422" cy="2664296"/>
          </a:xfrm>
        </p:spPr>
        <p:txBody>
          <a:bodyPr>
            <a:normAutofit fontScale="85000" lnSpcReduction="10000"/>
          </a:bodyPr>
          <a:lstStyle/>
          <a:p>
            <a:r>
              <a:rPr lang="el-GR" dirty="0"/>
              <a:t>Οι τεχνικές ανίχνευσης που χρησιμοποιήσαμε</a:t>
            </a:r>
            <a:r>
              <a:rPr lang="en-US" dirty="0"/>
              <a:t>:</a:t>
            </a:r>
          </a:p>
          <a:p>
            <a:pPr marL="617220" lvl="1" indent="-342900"/>
            <a:r>
              <a:rPr lang="en-US" sz="19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</a:t>
            </a: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l-GR" sz="19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Ανίχνευση Ανωμαλιών</a:t>
            </a:r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l-GR" sz="1700" dirty="0"/>
              <a:t>Δεν υπάρχουν ετικέτες στα δεδομένα.</a:t>
            </a:r>
            <a:endParaRPr lang="en-US" sz="1700" dirty="0"/>
          </a:p>
          <a:p>
            <a:pPr lvl="2">
              <a:buFont typeface="Wingdings" panose="05000000000000000000" pitchFamily="2" charset="2"/>
              <a:buChar char="q"/>
            </a:pPr>
            <a:endParaRPr lang="en-US" sz="17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l-GR" sz="1900" b="1" dirty="0"/>
              <a:t>Πώς δουλεύει:</a:t>
            </a:r>
            <a:endParaRPr lang="el-GR" sz="19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l-GR" sz="1700" dirty="0"/>
              <a:t>Το μοντέλο βλέπει ένα μεγάλο σύνολο δεδομένων και προσπαθεί </a:t>
            </a:r>
            <a:r>
              <a:rPr lang="el-GR" sz="1700" b="1" dirty="0"/>
              <a:t>να καταλάβει μόνο του ποια μοτίβα είναι φυσιολογικά</a:t>
            </a:r>
            <a:r>
              <a:rPr lang="el-GR" sz="1700" dirty="0"/>
              <a:t>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l-GR" sz="1700" dirty="0"/>
              <a:t>Ό,τι </a:t>
            </a:r>
            <a:r>
              <a:rPr lang="el-GR" sz="1700" b="1" dirty="0"/>
              <a:t>αποκλίνει από αυτά τα μοτίβα</a:t>
            </a:r>
            <a:r>
              <a:rPr lang="el-GR" sz="1700" dirty="0"/>
              <a:t> θεωρείται ανωμαλία.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l-GR" sz="1700" b="1" dirty="0">
                <a:solidFill>
                  <a:schemeClr val="accent1">
                    <a:lumMod val="75000"/>
                  </a:schemeClr>
                </a:solidFill>
              </a:rPr>
              <a:t>Παράδειγμα</a:t>
            </a:r>
            <a:r>
              <a:rPr lang="el-GR" sz="1700" b="1" dirty="0"/>
              <a:t>:</a:t>
            </a:r>
            <a:r>
              <a:rPr lang="el-GR" sz="1700" dirty="0"/>
              <a:t> DBSCAN, Isolation Forest</a:t>
            </a:r>
          </a:p>
        </p:txBody>
      </p:sp>
    </p:spTree>
    <p:extLst>
      <p:ext uri="{BB962C8B-B14F-4D97-AF65-F5344CB8AC3E}">
        <p14:creationId xmlns:p14="http://schemas.microsoft.com/office/powerpoint/2010/main" val="194653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7772400" cy="1143000"/>
          </a:xfrm>
        </p:spPr>
        <p:txBody>
          <a:bodyPr/>
          <a:lstStyle/>
          <a:p>
            <a:r>
              <a:rPr lang="el-GR" dirty="0"/>
              <a:t>Προεπεξεργασία Δεδομένων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113984" cy="515112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l-GR" sz="2400" b="1" dirty="0"/>
              <a:t>Αποσυμπίεση και Φόρτωση Δεδομένων</a:t>
            </a:r>
          </a:p>
          <a:p>
            <a:pPr lvl="2"/>
            <a:r>
              <a:rPr lang="en-US" sz="1800" dirty="0"/>
              <a:t>gridID: </a:t>
            </a:r>
            <a:r>
              <a:rPr lang="el-GR" sz="1800" dirty="0"/>
              <a:t>Αναγνωριστικό κυψέλης </a:t>
            </a:r>
          </a:p>
          <a:p>
            <a:pPr lvl="2"/>
            <a:r>
              <a:rPr lang="en-US" sz="1800" dirty="0"/>
              <a:t>timeInterval: </a:t>
            </a:r>
            <a:r>
              <a:rPr lang="el-GR" sz="1800" dirty="0"/>
              <a:t>Χρονική σήμανση (σε </a:t>
            </a:r>
            <a:r>
              <a:rPr lang="en-US" sz="1800" dirty="0"/>
              <a:t>milliseconds)</a:t>
            </a:r>
            <a:endParaRPr lang="el-GR" sz="1800" dirty="0"/>
          </a:p>
          <a:p>
            <a:pPr lvl="2"/>
            <a:r>
              <a:rPr lang="en-US" sz="1800" dirty="0"/>
              <a:t>countryCode: </a:t>
            </a:r>
            <a:r>
              <a:rPr lang="el-GR" sz="1800" dirty="0"/>
              <a:t>Κωδικός χώρας (αφαιρέθηκε)</a:t>
            </a:r>
          </a:p>
          <a:p>
            <a:pPr lvl="2"/>
            <a:r>
              <a:rPr lang="en-US" sz="1800" dirty="0"/>
              <a:t>smsIn, smsOut: </a:t>
            </a:r>
            <a:r>
              <a:rPr lang="el-GR" sz="1800" dirty="0"/>
              <a:t>Εισερχόμενα/Εξερχόμενα </a:t>
            </a:r>
            <a:r>
              <a:rPr lang="en-US" sz="1800" dirty="0"/>
              <a:t>SMS</a:t>
            </a:r>
            <a:endParaRPr lang="el-GR" sz="1800" dirty="0"/>
          </a:p>
          <a:p>
            <a:pPr lvl="2"/>
            <a:r>
              <a:rPr lang="en-US" sz="1800" dirty="0"/>
              <a:t>callIn, callOut: </a:t>
            </a:r>
            <a:r>
              <a:rPr lang="el-GR" sz="1800" dirty="0"/>
              <a:t>Εισερχόμενες/Εξερχόμενες κλήσεις</a:t>
            </a:r>
          </a:p>
          <a:p>
            <a:pPr lvl="2"/>
            <a:r>
              <a:rPr lang="el-GR" sz="1800" dirty="0"/>
              <a:t> </a:t>
            </a:r>
            <a:r>
              <a:rPr lang="en-US" sz="1800" dirty="0"/>
              <a:t>internet: </a:t>
            </a:r>
            <a:r>
              <a:rPr lang="el-GR" sz="1800" dirty="0"/>
              <a:t>Όγκος δεδομένων </a:t>
            </a:r>
            <a:r>
              <a:rPr lang="en-US" sz="1800" dirty="0"/>
              <a:t>Internet</a:t>
            </a:r>
            <a:endParaRPr lang="el-GR" sz="2400" b="1" dirty="0"/>
          </a:p>
          <a:p>
            <a:pPr marL="514350" indent="-514350">
              <a:buFont typeface="+mj-lt"/>
              <a:buAutoNum type="arabicPeriod"/>
            </a:pPr>
            <a:r>
              <a:rPr lang="el-GR" sz="2400" b="1" dirty="0"/>
              <a:t>Καθαρισμός και Ενοποίηση</a:t>
            </a:r>
            <a:endParaRPr lang="en-US" sz="2400" b="1" dirty="0"/>
          </a:p>
          <a:p>
            <a:pPr marL="594360" lvl="2" indent="0">
              <a:buNone/>
            </a:pPr>
            <a:r>
              <a:rPr lang="el-GR" sz="1900" dirty="0"/>
              <a:t>Για κάθε chunk από κάθε .txt αρχείο:</a:t>
            </a:r>
          </a:p>
          <a:p>
            <a:pPr lvl="2"/>
            <a:r>
              <a:rPr lang="el-GR" sz="1800" b="1" dirty="0"/>
              <a:t>Μετατροπή χρονικών στιγμών</a:t>
            </a:r>
            <a:r>
              <a:rPr lang="el-GR" sz="1800" dirty="0"/>
              <a:t>:</a:t>
            </a:r>
          </a:p>
          <a:p>
            <a:pPr lvl="3"/>
            <a:r>
              <a:rPr lang="el-GR" sz="1800" dirty="0"/>
              <a:t>timeInterval μετατρέπεται από timestamp σε datetime, πρώτα σε UTC και μετά μετατρέπεται στη ζώνη ώρας </a:t>
            </a:r>
            <a:r>
              <a:rPr lang="el-GR" sz="1800" b="1" dirty="0"/>
              <a:t>CET</a:t>
            </a:r>
            <a:r>
              <a:rPr lang="el-GR" sz="1800" dirty="0"/>
              <a:t> και αφαιρείται η χρονική ζώνη.</a:t>
            </a:r>
          </a:p>
          <a:p>
            <a:pPr lvl="2"/>
            <a:r>
              <a:rPr lang="el-GR" sz="1800" b="1" dirty="0"/>
              <a:t>Αφαίρεση της στήλης countryCode</a:t>
            </a:r>
            <a:r>
              <a:rPr lang="el-GR" sz="1800" dirty="0"/>
              <a:t>.</a:t>
            </a:r>
          </a:p>
          <a:p>
            <a:pPr lvl="2"/>
            <a:r>
              <a:rPr lang="el-GR" sz="1800" b="1" dirty="0"/>
              <a:t>Αντικατάσταση των NaN με 0</a:t>
            </a:r>
            <a:r>
              <a:rPr lang="el-GR" sz="1800" dirty="0"/>
              <a:t>, για να αποφευχθούν σφάλματα στην επεξεργασία.</a:t>
            </a:r>
          </a:p>
          <a:p>
            <a:pPr lvl="2"/>
            <a:r>
              <a:rPr lang="el-GR" sz="1800" b="1" dirty="0"/>
              <a:t>Στρογγυλοποίηση στο πλησιέστερο ακέραιο της ώρας</a:t>
            </a:r>
            <a:r>
              <a:rPr lang="el-GR" sz="1800" dirty="0"/>
              <a:t> (π.χ., 13:45 -&gt; 13:00).</a:t>
            </a:r>
          </a:p>
          <a:p>
            <a:pPr marL="594360" lvl="2" indent="0">
              <a:buNone/>
            </a:pPr>
            <a:endParaRPr lang="el-GR" sz="1800" dirty="0"/>
          </a:p>
          <a:p>
            <a:pPr marL="514350" indent="-514350">
              <a:buFont typeface="+mj-lt"/>
              <a:buAutoNum type="arabicPeriod"/>
            </a:pPr>
            <a:r>
              <a:rPr lang="el-GR" sz="2400" b="1" dirty="0"/>
              <a:t>Κανονικοποίηση (</a:t>
            </a:r>
            <a:r>
              <a:rPr lang="en-US" sz="2400" b="1" dirty="0"/>
              <a:t>min-max scaling)</a:t>
            </a:r>
            <a:endParaRPr lang="el-GR" sz="2400" b="1" dirty="0"/>
          </a:p>
          <a:p>
            <a:pPr lvl="1"/>
            <a:r>
              <a:rPr lang="el-GR" sz="2100" dirty="0"/>
              <a:t>Τα δεδομένα που προέκυψαν κανονικοποιήθηκαν με χρήση του Min-M</a:t>
            </a:r>
            <a:r>
              <a:rPr lang="en-US" sz="2100" dirty="0"/>
              <a:t>ax</a:t>
            </a:r>
            <a:r>
              <a:rPr lang="el-GR" sz="2100" dirty="0"/>
              <a:t> Scaling, ώστε οι τιμές των αριθμητικών χαρακτηριστικών να περιορίζονται στο διάστημα [0, 1]</a:t>
            </a:r>
            <a:endParaRPr lang="en-US" sz="2100" dirty="0"/>
          </a:p>
          <a:p>
            <a:pPr lvl="1"/>
            <a:endParaRPr lang="el-GR" sz="2200" dirty="0"/>
          </a:p>
          <a:p>
            <a:pPr marL="514350" indent="-514350">
              <a:buFont typeface="+mj-lt"/>
              <a:buAutoNum type="arabicPeriod"/>
            </a:pPr>
            <a:r>
              <a:rPr lang="el-GR" sz="2400" b="1" dirty="0"/>
              <a:t>Τελική Έκδοση Δεδομένων</a:t>
            </a:r>
          </a:p>
        </p:txBody>
      </p:sp>
    </p:spTree>
    <p:extLst>
      <p:ext uri="{BB962C8B-B14F-4D97-AF65-F5344CB8AC3E}">
        <p14:creationId xmlns:p14="http://schemas.microsoft.com/office/powerpoint/2010/main" val="190590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3D1F71-1F2D-239A-60F2-FE7F9453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5B964DD5-AA01-4469-D686-AC7E188B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Εφαρμογή Τεχνικών Ανίχνευσης Ανωμαλιών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1684D058-6C23-8582-851E-AB2B680B2E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513584" cy="1549152"/>
          </a:xfrm>
        </p:spPr>
        <p:txBody>
          <a:bodyPr>
            <a:normAutofit/>
          </a:bodyPr>
          <a:lstStyle/>
          <a:p>
            <a:pPr marL="320040" lvl="1" indent="0">
              <a:buNone/>
            </a:pPr>
            <a:r>
              <a:rPr lang="el-GR" sz="2000" dirty="0" smtClean="0"/>
              <a:t> </a:t>
            </a:r>
            <a:endParaRPr lang="el-GR" sz="2000" dirty="0"/>
          </a:p>
        </p:txBody>
      </p:sp>
      <p:graphicFrame>
        <p:nvGraphicFramePr>
          <p:cNvPr id="5" name="Θέση περιεχομένου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31539407"/>
              </p:ext>
            </p:extLst>
          </p:nvPr>
        </p:nvGraphicFramePr>
        <p:xfrm>
          <a:off x="971600" y="1628800"/>
          <a:ext cx="6912694" cy="30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230"/>
                <a:gridCol w="2160240"/>
                <a:gridCol w="2016224"/>
              </a:tblGrid>
              <a:tr h="370840">
                <a:tc>
                  <a:txBody>
                    <a:bodyPr/>
                    <a:lstStyle/>
                    <a:p>
                      <a:r>
                        <a:rPr lang="el-GR" dirty="0" smtClean="0"/>
                        <a:t>Χαρακτηριστικό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DBSCAN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Isolation</a:t>
                      </a:r>
                      <a:r>
                        <a:rPr lang="en-US" baseline="0" dirty="0" smtClean="0"/>
                        <a:t> Forest</a:t>
                      </a:r>
                      <a:endParaRPr lang="el-G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dirty="0" smtClean="0"/>
                        <a:t>Ανιχνεύει ομαδικές ανωμαλίες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</a:t>
                      </a:r>
                      <a:r>
                        <a:rPr lang="el-GR" dirty="0" smtClean="0"/>
                        <a:t> - </a:t>
                      </a:r>
                      <a:r>
                        <a:rPr lang="el-GR" sz="1100" dirty="0" smtClean="0"/>
                        <a:t>Σε πυκνές περιοχές</a:t>
                      </a:r>
                      <a:endParaRPr lang="el-G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</a:t>
                      </a:r>
                      <a:endParaRPr lang="el-G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Ανιχνεύει μεμονωμένες ανωμαλίες</a:t>
                      </a:r>
                      <a:endParaRPr lang="el-G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</a:t>
                      </a:r>
                      <a:r>
                        <a:rPr lang="el-GR" dirty="0" smtClean="0"/>
                        <a:t> - </a:t>
                      </a:r>
                      <a:r>
                        <a:rPr lang="el-GR" sz="1100" dirty="0" smtClean="0"/>
                        <a:t>Απομονωμένα σημεία</a:t>
                      </a:r>
                      <a:endParaRPr lang="el-GR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dirty="0" smtClean="0"/>
                        <a:t>Ανιχνεύει ανωμαλίες σε αραιές περιοχές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❌</a:t>
                      </a:r>
                      <a:r>
                        <a:rPr lang="el-GR" sz="1400" dirty="0" smtClean="0"/>
                        <a:t>- </a:t>
                      </a:r>
                      <a:r>
                        <a:rPr lang="el-GR" sz="1100" dirty="0" smtClean="0"/>
                        <a:t>Τις </a:t>
                      </a:r>
                      <a:r>
                        <a:rPr lang="el-GR" sz="1100" dirty="0" smtClean="0"/>
                        <a:t>θεωρεί</a:t>
                      </a:r>
                      <a:r>
                        <a:rPr lang="el-GR" sz="1200" dirty="0" smtClean="0"/>
                        <a:t> </a:t>
                      </a:r>
                      <a:r>
                        <a:rPr lang="en-US" sz="1400" b="1" dirty="0" smtClean="0"/>
                        <a:t>noise</a:t>
                      </a:r>
                      <a:endParaRPr lang="el-GR" sz="1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✅</a:t>
                      </a:r>
                      <a:r>
                        <a:rPr lang="el-GR" sz="1600" dirty="0" smtClean="0"/>
                        <a:t> -</a:t>
                      </a:r>
                      <a:r>
                        <a:rPr lang="el-GR" sz="1200" dirty="0" smtClean="0"/>
                        <a:t> </a:t>
                      </a:r>
                      <a:r>
                        <a:rPr lang="el-GR" sz="1100" dirty="0" smtClean="0"/>
                        <a:t>Υψηλή </a:t>
                      </a:r>
                      <a:r>
                        <a:rPr lang="el-GR" sz="1100" dirty="0" smtClean="0"/>
                        <a:t>ευαισθησία σε </a:t>
                      </a:r>
                      <a:r>
                        <a:rPr lang="en-US" sz="1200" b="1" dirty="0" smtClean="0"/>
                        <a:t>outliers</a:t>
                      </a:r>
                      <a:endParaRPr lang="el-GR" sz="1200" b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dirty="0" smtClean="0"/>
                        <a:t>Αρχή λειτουργίας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Πυκνότητα σημείων</a:t>
                      </a:r>
                      <a:r>
                        <a:rPr lang="el-GR" sz="1400" dirty="0" smtClean="0"/>
                        <a:t> (</a:t>
                      </a:r>
                      <a:r>
                        <a:rPr lang="en-US" sz="1400" dirty="0" smtClean="0"/>
                        <a:t>density-based) 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Τυχαία δέντρα και βαθιά απομόνωση</a:t>
                      </a:r>
                      <a:endParaRPr lang="el-GR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dirty="0" smtClean="0"/>
                        <a:t>Ανθεκτικότητα σε "θόρυβο"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Περιορισμένη σε αραιά και ασαφή clusters</a:t>
                      </a:r>
                      <a:endParaRPr lang="el-G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Υψηλή – Δουλεύει καλά σε διασκορπισμένα δεδομένα</a:t>
                      </a:r>
                      <a:endParaRPr lang="el-GR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Καταλληλότητα για ακανόνιστα </a:t>
                      </a:r>
                      <a:r>
                        <a:rPr lang="en-US" sz="1400" dirty="0" smtClean="0"/>
                        <a:t>patterns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Υψηλή – Βρίσκει σχήματα με ασαφή μορφή </a:t>
                      </a:r>
                      <a:endParaRPr lang="el-G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200" dirty="0" smtClean="0"/>
                        <a:t>Χαμηλή – Υποθέτει απλούς διαχωρισμούς</a:t>
                      </a:r>
                      <a:endParaRPr lang="el-GR" sz="1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56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Εφαρμογή Τεχνικών Ανίχνευσης Ανωμαλιών</a:t>
            </a:r>
            <a:r>
              <a:rPr lang="en-US" dirty="0"/>
              <a:t> </a:t>
            </a:r>
            <a:r>
              <a:rPr lang="en-US" dirty="0" smtClean="0"/>
              <a:t>– Top 30 </a:t>
            </a:r>
            <a:r>
              <a:rPr lang="el-GR" dirty="0" smtClean="0"/>
              <a:t>ημέρες </a:t>
            </a:r>
            <a:r>
              <a:rPr lang="el-GR" sz="1800" dirty="0" smtClean="0"/>
              <a:t>(</a:t>
            </a:r>
            <a:r>
              <a:rPr lang="en-US" sz="1800" dirty="0" smtClean="0"/>
              <a:t>all grids)</a:t>
            </a:r>
            <a:endParaRPr lang="el-GR" sz="1800" dirty="0"/>
          </a:p>
        </p:txBody>
      </p:sp>
      <p:pic>
        <p:nvPicPr>
          <p:cNvPr id="6" name="Εικόνα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3" y="1463205"/>
            <a:ext cx="9001000" cy="1965794"/>
          </a:xfrm>
          <a:prstGeom prst="rect">
            <a:avLst/>
          </a:prstGeom>
        </p:spPr>
      </p:pic>
      <p:pic>
        <p:nvPicPr>
          <p:cNvPr id="7" name="Εικόνα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7" y="3673281"/>
            <a:ext cx="9013526" cy="195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9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323528" y="0"/>
            <a:ext cx="8136904" cy="1052736"/>
          </a:xfrm>
        </p:spPr>
        <p:txBody>
          <a:bodyPr>
            <a:noAutofit/>
          </a:bodyPr>
          <a:lstStyle/>
          <a:p>
            <a:pPr algn="ctr"/>
            <a:r>
              <a:rPr lang="el-GR" sz="2800" dirty="0" smtClean="0"/>
              <a:t>Ανωμαλίες ανά ώρα και ημέρα</a:t>
            </a:r>
            <a:br>
              <a:rPr lang="el-GR" sz="2800" dirty="0" smtClean="0"/>
            </a:br>
            <a:r>
              <a:rPr lang="en-US" sz="2800" b="1" dirty="0" smtClean="0"/>
              <a:t>DBSCAN vs Isolation Forest </a:t>
            </a:r>
            <a:r>
              <a:rPr lang="en-US" sz="1400" b="1" dirty="0" smtClean="0"/>
              <a:t>(university area)</a:t>
            </a:r>
            <a:endParaRPr lang="el-GR" sz="2800" b="1" dirty="0"/>
          </a:p>
        </p:txBody>
      </p:sp>
      <p:sp>
        <p:nvSpPr>
          <p:cNvPr id="15" name="Διπλή αγκύλη 14"/>
          <p:cNvSpPr/>
          <p:nvPr/>
        </p:nvSpPr>
        <p:spPr>
          <a:xfrm>
            <a:off x="431540" y="5085184"/>
            <a:ext cx="6516724" cy="144016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6" name="Ορθογώνιο 15"/>
          <p:cNvSpPr/>
          <p:nvPr/>
        </p:nvSpPr>
        <p:spPr>
          <a:xfrm>
            <a:off x="611560" y="5093215"/>
            <a:ext cx="633670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1100" dirty="0"/>
              <a:t>Πριν την εφαρμογή των αλγορίθμων για την ανίχνευση ανωμαλιών, τα </a:t>
            </a:r>
            <a:r>
              <a:rPr lang="en-US" sz="1100" dirty="0"/>
              <a:t> </a:t>
            </a:r>
            <a:r>
              <a:rPr lang="en-US" sz="1100" dirty="0" smtClean="0"/>
              <a:t>features </a:t>
            </a:r>
            <a:r>
              <a:rPr lang="el-GR" sz="1100" dirty="0" smtClean="0"/>
              <a:t>κανονικοποιήθηκαν </a:t>
            </a:r>
            <a:r>
              <a:rPr lang="el-GR" sz="1100" dirty="0"/>
              <a:t>χρησιμοποιώντας </a:t>
            </a:r>
            <a:r>
              <a:rPr lang="el-GR" sz="1100" b="1" dirty="0"/>
              <a:t>Standard Scaling</a:t>
            </a:r>
            <a:r>
              <a:rPr lang="el-GR" sz="1100" dirty="0"/>
              <a:t>, ώστε κάθε μεταβλητή να έχει </a:t>
            </a:r>
            <a:r>
              <a:rPr lang="el-GR" sz="1100" b="1" dirty="0"/>
              <a:t>μέση τιμή 0</a:t>
            </a:r>
            <a:r>
              <a:rPr lang="el-GR" sz="1100" dirty="0"/>
              <a:t> και </a:t>
            </a:r>
            <a:r>
              <a:rPr lang="el-GR" sz="1100" b="1" dirty="0"/>
              <a:t>τυπική απόκλιση </a:t>
            </a:r>
            <a:r>
              <a:rPr lang="el-GR" sz="1100" b="1" dirty="0" smtClean="0">
                <a:solidFill>
                  <a:schemeClr val="accent1">
                    <a:lumMod val="75000"/>
                  </a:schemeClr>
                </a:solidFill>
              </a:rPr>
              <a:t>Συνεπώς</a:t>
            </a:r>
            <a:r>
              <a:rPr lang="el-GR" sz="1100" dirty="0" smtClean="0"/>
              <a:t>, εξασφαλίζεται </a:t>
            </a:r>
            <a:r>
              <a:rPr lang="el-GR" sz="1100" dirty="0"/>
              <a:t>ότι όλες οι μεταβλητές συνεισφέρουν ισότιμα στη διαδικασία ανάλυσης, ανεξάρτητα από την αρχική τους κλίμακα.</a:t>
            </a:r>
          </a:p>
          <a:p>
            <a:r>
              <a:rPr lang="el-GR" sz="1100" dirty="0" smtClean="0"/>
              <a:t>Και </a:t>
            </a:r>
            <a:r>
              <a:rPr lang="el-GR" sz="1100" dirty="0"/>
              <a:t>στις δύο περιπτώσεις, οι </a:t>
            </a:r>
            <a:r>
              <a:rPr lang="el-GR" sz="1100" b="1" dirty="0"/>
              <a:t>30 ημέρες με τις περισσότερες ανωμαλίες</a:t>
            </a:r>
            <a:r>
              <a:rPr lang="el-GR" sz="1100" dirty="0"/>
              <a:t> προσδιορίστηκαν μετρώντας τον αριθμό των δειγμάτων που χαρακτηρίστηκαν ως </a:t>
            </a:r>
            <a:r>
              <a:rPr lang="el-GR" sz="1100" b="1" dirty="0"/>
              <a:t>ανωμαλίες (label = -1)</a:t>
            </a:r>
            <a:r>
              <a:rPr lang="el-GR" sz="1100" dirty="0"/>
              <a:t> για κάθε ημέρα. Η κοινή προσέγγιση της κανονικοποίησης εξασφαλίζει συγκρίσιμα αποτελέσματα ανάμεσα στους δύο αλγόριθμους.</a:t>
            </a:r>
          </a:p>
        </p:txBody>
      </p:sp>
      <p:pic>
        <p:nvPicPr>
          <p:cNvPr id="17" name="Εικόνα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63" y="980728"/>
            <a:ext cx="4908020" cy="1987640"/>
          </a:xfrm>
          <a:prstGeom prst="rect">
            <a:avLst/>
          </a:prstGeom>
        </p:spPr>
      </p:pic>
      <p:pic>
        <p:nvPicPr>
          <p:cNvPr id="19" name="Θέση περιεχομένου 18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63" y="3068960"/>
            <a:ext cx="4938190" cy="1656184"/>
          </a:xfrm>
        </p:spPr>
      </p:pic>
      <p:pic>
        <p:nvPicPr>
          <p:cNvPr id="20" name="Εικόνα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340768"/>
            <a:ext cx="3888979" cy="1555592"/>
          </a:xfrm>
          <a:prstGeom prst="rect">
            <a:avLst/>
          </a:prstGeom>
        </p:spPr>
      </p:pic>
      <p:pic>
        <p:nvPicPr>
          <p:cNvPr id="26" name="Θέση περιεχομένου 25"/>
          <p:cNvPicPr>
            <a:picLocks noGrp="1" noChangeAspect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61" y="3068960"/>
            <a:ext cx="3805576" cy="1468141"/>
          </a:xfrm>
        </p:spPr>
      </p:pic>
    </p:spTree>
    <p:extLst>
      <p:ext uri="{BB962C8B-B14F-4D97-AF65-F5344CB8AC3E}">
        <p14:creationId xmlns:p14="http://schemas.microsoft.com/office/powerpoint/2010/main" val="320025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3CE9D3-F107-F65C-8642-E4B57706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F4352841-6795-37FE-69E1-A01D8FC3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 smtClean="0"/>
              <a:t>Εστίαση σε συγκεκριμένα </a:t>
            </a:r>
            <a:r>
              <a:rPr lang="en-US" dirty="0" smtClean="0"/>
              <a:t>grids </a:t>
            </a:r>
            <a:r>
              <a:rPr lang="en-US" dirty="0" smtClean="0"/>
              <a:t>–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Area </a:t>
            </a:r>
            <a:r>
              <a:rPr lang="el-GR" sz="18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DBSCAN)</a:t>
            </a:r>
            <a:endParaRPr lang="el-GR" sz="1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CD3219C8-F95E-7D72-0B7E-12019EF4EF5C}"/>
                  </a:ext>
                </a:extLst>
              </p14:cNvPr>
              <p14:cNvContentPartPr/>
              <p14:nvPr/>
            </p14:nvContentPartPr>
            <p14:xfrm>
              <a:off x="-1878310" y="1012548"/>
              <a:ext cx="21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D3219C8-F95E-7D72-0B7E-12019EF4EF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1884430" y="1006428"/>
                <a:ext cx="144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Εικόνα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23" y="1484784"/>
            <a:ext cx="8355965" cy="435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1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DBAEE15-5BF8-40A3-A738-EACDB9E0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BEB55A9A-9ACA-506A-01B7-788AD911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Εστίαση σε συγκεκριμένα </a:t>
            </a:r>
            <a:r>
              <a:rPr lang="en-US" dirty="0"/>
              <a:t>grids –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Area </a:t>
            </a:r>
            <a:r>
              <a:rPr lang="el-GR" sz="18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 Forest)</a:t>
            </a:r>
            <a:endParaRPr lang="el-G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18F05A18-2205-E08F-3219-C3F617146A5B}"/>
                  </a:ext>
                </a:extLst>
              </p14:cNvPr>
              <p14:cNvContentPartPr/>
              <p14:nvPr/>
            </p14:nvContentPartPr>
            <p14:xfrm>
              <a:off x="-1878310" y="1012548"/>
              <a:ext cx="21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F05A18-2205-E08F-3219-C3F617146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885654" y="1006428"/>
                <a:ext cx="16848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A4D9D87-1059-F1B0-3D5B-018FD000C3AB}"/>
              </a:ext>
            </a:extLst>
          </p:cNvPr>
          <p:cNvSpPr txBox="1"/>
          <p:nvPr/>
        </p:nvSpPr>
        <p:spPr>
          <a:xfrm>
            <a:off x="5877904" y="5377210"/>
            <a:ext cx="2654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Ημέρες που παρατηρήθηκε κίνηση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15/11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Italy vs Germany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01/11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National All Saints day</a:t>
            </a:r>
          </a:p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Years</a:t>
            </a:r>
          </a:p>
        </p:txBody>
      </p:sp>
      <p:sp>
        <p:nvSpPr>
          <p:cNvPr id="6" name="Ορθογώνιο 5"/>
          <p:cNvSpPr/>
          <p:nvPr/>
        </p:nvSpPr>
        <p:spPr>
          <a:xfrm>
            <a:off x="548426" y="5315656"/>
            <a:ext cx="3150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1200" b="1" dirty="0">
                <a:solidFill>
                  <a:schemeClr val="accent1">
                    <a:lumMod val="75000"/>
                  </a:schemeClr>
                </a:solidFill>
              </a:rPr>
              <a:t>Οι κόκκινες κουκίδες δείχνουν:</a:t>
            </a:r>
          </a:p>
          <a:p>
            <a:r>
              <a:rPr lang="el-GR" sz="1100" dirty="0"/>
              <a:t>Σημεία που έχουν μη φυσιολογική </a:t>
            </a:r>
            <a:r>
              <a:rPr lang="el-GR" sz="1100" dirty="0" smtClean="0"/>
              <a:t>τιμή, η οποία οφείλεται είτε σε απότομη μεταβολή τιμών ανάμεσα σε χρονικές στιγμές είτε κάποιον ασυνήθιστο συνδυασμό τιμών.</a:t>
            </a:r>
            <a:endParaRPr lang="el-GR" sz="1100" dirty="0"/>
          </a:p>
        </p:txBody>
      </p:sp>
      <p:sp>
        <p:nvSpPr>
          <p:cNvPr id="8" name="Διπλή αγκύλη 7"/>
          <p:cNvSpPr/>
          <p:nvPr/>
        </p:nvSpPr>
        <p:spPr>
          <a:xfrm>
            <a:off x="395536" y="5100213"/>
            <a:ext cx="3456384" cy="138499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Διπλή αγκύλη 8"/>
          <p:cNvSpPr/>
          <p:nvPr/>
        </p:nvSpPr>
        <p:spPr>
          <a:xfrm>
            <a:off x="5580112" y="5315656"/>
            <a:ext cx="3168352" cy="106567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0" name="Εικόνα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40768"/>
            <a:ext cx="8676455" cy="365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F6A17A-6735-A1BD-6448-CFFD9D43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962087D1-43A2-FB58-F209-2FA8AFF8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Εστίαση σε συγκεκριμένα </a:t>
            </a:r>
            <a:r>
              <a:rPr lang="en-US" dirty="0"/>
              <a:t>grids –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Shopping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</a:t>
            </a:r>
            <a:r>
              <a:rPr lang="el-GR" sz="1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Isolation Forest</a:t>
            </a: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sz="5300" dirty="0"/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12776"/>
            <a:ext cx="8193019" cy="2174450"/>
          </a:xfrm>
          <a:prstGeom prst="rect">
            <a:avLst/>
          </a:prstGeom>
        </p:spPr>
      </p:pic>
      <p:pic>
        <p:nvPicPr>
          <p:cNvPr id="5" name="Εικόνα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22" y="3771661"/>
            <a:ext cx="8363434" cy="196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5856B5-1D8F-2CFE-FDF5-B98130DA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F331E426-10CF-16B3-66DC-D644D913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Εστίαση σε συγκεκριμένα </a:t>
            </a:r>
            <a:r>
              <a:rPr lang="en-US" dirty="0"/>
              <a:t>grids –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Milano Airport </a:t>
            </a:r>
            <a:r>
              <a:rPr lang="el-GR" sz="1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Isolation Forest</a:t>
            </a:r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dirty="0"/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81" y="1556791"/>
            <a:ext cx="8246892" cy="2141181"/>
          </a:xfrm>
          <a:prstGeom prst="rect">
            <a:avLst/>
          </a:prstGeom>
        </p:spPr>
      </p:pic>
      <p:pic>
        <p:nvPicPr>
          <p:cNvPr id="4" name="Εικόνα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46" y="3789040"/>
            <a:ext cx="8360961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62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7905D2-9A49-FFA9-D1F6-32121FA6D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3CF33D34-F587-DB2C-FCDD-D395EC30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Εστίαση σε συγκεκριμένα </a:t>
            </a:r>
            <a:r>
              <a:rPr lang="en-US" dirty="0"/>
              <a:t>grids –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Area </a:t>
            </a:r>
            <a:r>
              <a:rPr lang="el-GR" sz="18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Isolation Forest</a:t>
            </a:r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dirty="0"/>
          </a:p>
        </p:txBody>
      </p:sp>
      <p:pic>
        <p:nvPicPr>
          <p:cNvPr id="3" name="Εικόνα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68434"/>
            <a:ext cx="8286854" cy="2088232"/>
          </a:xfrm>
          <a:prstGeom prst="rect">
            <a:avLst/>
          </a:prstGeom>
        </p:spPr>
      </p:pic>
      <p:pic>
        <p:nvPicPr>
          <p:cNvPr id="4" name="Εικόνα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43" y="3973618"/>
            <a:ext cx="8338221" cy="204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9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27584" y="185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l-GR" dirty="0"/>
              <a:t>Αξιολόγηση και Ερμηνεία Ανωμαλιών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quarter" idx="1"/>
          </p:nvPr>
        </p:nvSpPr>
        <p:spPr>
          <a:xfrm>
            <a:off x="1043608" y="1196752"/>
            <a:ext cx="7272808" cy="2592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1100" b="1" dirty="0" smtClean="0"/>
              <a:t>Συνεπώς</a:t>
            </a:r>
            <a:r>
              <a:rPr lang="el-GR" sz="1100" dirty="0" smtClean="0"/>
              <a:t>, εφαρμόστηκαν </a:t>
            </a:r>
            <a:r>
              <a:rPr lang="el-GR" sz="1100" b="1" dirty="0" smtClean="0"/>
              <a:t>δύο</a:t>
            </a:r>
            <a:r>
              <a:rPr lang="el-GR" sz="1100" dirty="0" smtClean="0"/>
              <a:t> </a:t>
            </a:r>
            <a:r>
              <a:rPr lang="el-GR" sz="1100" dirty="0"/>
              <a:t>διαφορετικές προσεγγίσεις ανίχνευσης ανωμαλιών:</a:t>
            </a:r>
          </a:p>
          <a:p>
            <a:r>
              <a:rPr lang="el-GR" sz="1100" b="1" dirty="0"/>
              <a:t>DBSCAN</a:t>
            </a:r>
            <a:r>
              <a:rPr lang="el-GR" sz="1100" dirty="0"/>
              <a:t> (αλγόριθμος βασισμένος στην πυκνότητα), και</a:t>
            </a:r>
          </a:p>
          <a:p>
            <a:r>
              <a:rPr lang="el-GR" sz="1100" b="1" dirty="0"/>
              <a:t>Isolation Forest</a:t>
            </a:r>
            <a:r>
              <a:rPr lang="el-GR" sz="1100" dirty="0"/>
              <a:t> (αλγόριθμος βασισμένος στην απομόνωση σημείων μέσω τυχαίων δέντρων).</a:t>
            </a:r>
          </a:p>
          <a:p>
            <a:r>
              <a:rPr lang="el-GR" sz="1100" dirty="0"/>
              <a:t>Ο DBSCAN εντοπίζει </a:t>
            </a:r>
            <a:r>
              <a:rPr lang="el-GR" sz="1100" b="1" dirty="0"/>
              <a:t>ομαδικές ανωμαλίες</a:t>
            </a:r>
            <a:r>
              <a:rPr lang="el-GR" sz="1100" dirty="0"/>
              <a:t> σε αραιές περιοχές του χώρου, αξιοποιώντας την εγγύτητα και την τοπική πυκνότητα. Αντίθετα, το Isolation Forest μπορεί να απομονώσει </a:t>
            </a:r>
            <a:r>
              <a:rPr lang="el-GR" sz="1100" b="1" dirty="0"/>
              <a:t>μεμονωμένα ανώμαλα σημεία</a:t>
            </a:r>
            <a:r>
              <a:rPr lang="el-GR" sz="1100" dirty="0"/>
              <a:t>, ακόμα και αν βρίσκονται εντός πυκνών περιοχών.</a:t>
            </a:r>
          </a:p>
          <a:p>
            <a:pPr marL="0" indent="0">
              <a:buNone/>
            </a:pPr>
            <a:r>
              <a:rPr lang="el-GR" sz="1100" b="1" u="sng" dirty="0" smtClean="0"/>
              <a:t>Συμπεράσματα</a:t>
            </a:r>
            <a:r>
              <a:rPr lang="en-US" sz="1100" b="1" u="sng" dirty="0" smtClean="0"/>
              <a:t>:</a:t>
            </a:r>
            <a:endParaRPr lang="el-GR" sz="1100" b="1" u="sng" dirty="0"/>
          </a:p>
          <a:p>
            <a:r>
              <a:rPr lang="el-GR" sz="1100" dirty="0"/>
              <a:t>Οι δύο μέθοδοι </a:t>
            </a:r>
            <a:r>
              <a:rPr lang="el-GR" sz="1100" b="1" dirty="0"/>
              <a:t>ανιχνεύουν διαφορετικού τύπου ανωμαλίες</a:t>
            </a:r>
            <a:r>
              <a:rPr lang="el-GR" sz="1100" dirty="0"/>
              <a:t> και είναι </a:t>
            </a:r>
            <a:r>
              <a:rPr lang="el-GR" sz="1100" b="1" dirty="0"/>
              <a:t>συμπληρωματικές</a:t>
            </a:r>
            <a:r>
              <a:rPr lang="el-GR" sz="1100" dirty="0"/>
              <a:t>.</a:t>
            </a:r>
          </a:p>
          <a:p>
            <a:r>
              <a:rPr lang="el-GR" sz="1100" dirty="0"/>
              <a:t>Ο DBSCAN είναι αποτελεσματικός για </a:t>
            </a:r>
            <a:r>
              <a:rPr lang="el-GR" sz="1100" b="1" dirty="0"/>
              <a:t>τοπικές ανωμαλίες με χαμηλή πυκνότητα</a:t>
            </a:r>
            <a:r>
              <a:rPr lang="el-GR" sz="1100" dirty="0"/>
              <a:t>, ενώ ο Isolation Forest για </a:t>
            </a:r>
            <a:r>
              <a:rPr lang="el-GR" sz="1100" b="1" dirty="0"/>
              <a:t>ακραίες τιμές σε επιμέρους χαρακτηριστικά</a:t>
            </a:r>
            <a:r>
              <a:rPr lang="el-GR" sz="1100" dirty="0"/>
              <a:t>.</a:t>
            </a:r>
          </a:p>
          <a:p>
            <a:r>
              <a:rPr lang="el-GR" sz="1100" dirty="0"/>
              <a:t>Ο συνδυασμός των δύο προσφέρει </a:t>
            </a:r>
            <a:r>
              <a:rPr lang="el-GR" sz="1100" b="1" dirty="0"/>
              <a:t>πληρέστερη εικόνα</a:t>
            </a:r>
            <a:r>
              <a:rPr lang="el-GR" sz="1100" dirty="0"/>
              <a:t> της συμπεριφοράς των δεδομένων και ενισχύει την αξιοπιστία της ανάλυσης.</a:t>
            </a:r>
          </a:p>
          <a:p>
            <a:pPr marL="0" indent="0">
              <a:buNone/>
            </a:pPr>
            <a:endParaRPr lang="el-GR" sz="1600" dirty="0"/>
          </a:p>
        </p:txBody>
      </p:sp>
      <p:pic>
        <p:nvPicPr>
          <p:cNvPr id="8" name="Θέση περιεχομένου 7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173497"/>
            <a:ext cx="3387803" cy="2016224"/>
          </a:xfrm>
        </p:spPr>
      </p:pic>
      <p:pic>
        <p:nvPicPr>
          <p:cNvPr id="9" name="Εικόνα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05064"/>
            <a:ext cx="4778658" cy="2353090"/>
          </a:xfrm>
          <a:prstGeom prst="rect">
            <a:avLst/>
          </a:prstGeom>
        </p:spPr>
      </p:pic>
      <p:sp>
        <p:nvSpPr>
          <p:cNvPr id="10" name="Δεξιό βέλος 9"/>
          <p:cNvSpPr/>
          <p:nvPr/>
        </p:nvSpPr>
        <p:spPr>
          <a:xfrm>
            <a:off x="5148064" y="4941168"/>
            <a:ext cx="360040" cy="2404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6563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Οπτικοποίηση</a:t>
            </a:r>
            <a:r>
              <a:rPr lang="en-US" dirty="0"/>
              <a:t> </a:t>
            </a:r>
            <a:r>
              <a:rPr lang="el-GR" dirty="0"/>
              <a:t>Αποτελεσμάτων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86A8566-E5E2-A924-DD74-507BA3A31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276" y="1628800"/>
            <a:ext cx="6443448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45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68A038-4924-2767-91DF-BDBD4858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BFCB59A1-5985-9509-6C8B-9EB9F54E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Οπτικοποίηση</a:t>
            </a:r>
            <a:r>
              <a:rPr lang="en-US" dirty="0"/>
              <a:t> </a:t>
            </a:r>
            <a:r>
              <a:rPr lang="el-GR" dirty="0"/>
              <a:t>Αποτελεσμάτων</a:t>
            </a:r>
          </a:p>
        </p:txBody>
      </p:sp>
      <p:pic>
        <p:nvPicPr>
          <p:cNvPr id="3" name="Θέση περιεχομένου 4">
            <a:extLst>
              <a:ext uri="{FF2B5EF4-FFF2-40B4-BE49-F238E27FC236}">
                <a16:creationId xmlns:a16="http://schemas.microsoft.com/office/drawing/2014/main" xmlns="" id="{7721635E-F807-05A7-4886-DC11B492968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17638"/>
            <a:ext cx="6052883" cy="334935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CC8750B-5A4E-0F19-9FB6-CE6ED2775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3456842"/>
            <a:ext cx="341042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14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 smtClean="0"/>
              <a:t>Γενικό Συμπέρασμα</a:t>
            </a:r>
            <a:endParaRPr lang="el-GR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sz="quarter" idx="1"/>
          </p:nvPr>
        </p:nvSpPr>
        <p:spPr>
          <a:xfrm>
            <a:off x="1043608" y="1628800"/>
            <a:ext cx="6768752" cy="34563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l-GR" sz="2800" dirty="0"/>
              <a:t>Η </a:t>
            </a:r>
            <a:r>
              <a:rPr lang="el-GR" sz="2800" b="1" dirty="0">
                <a:solidFill>
                  <a:schemeClr val="accent1">
                    <a:lumMod val="75000"/>
                  </a:schemeClr>
                </a:solidFill>
              </a:rPr>
              <a:t>ανίχνευση ανωμαλιών</a:t>
            </a:r>
            <a:r>
              <a:rPr lang="el-GR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l-GR" sz="2800" dirty="0"/>
              <a:t>αποτελεί κρίσιμο εργαλείο στην κατανόηση και παρακολούθηση της συμπεριφοράς πολύπλοκων συστημάτων. Μέσα από την εφαρμογή τεχνικών όπως το </a:t>
            </a:r>
            <a:r>
              <a:rPr lang="el-GR" sz="2800" b="1" dirty="0"/>
              <a:t>DBSCAN</a:t>
            </a:r>
            <a:r>
              <a:rPr lang="el-GR" sz="2800" dirty="0"/>
              <a:t> και το </a:t>
            </a:r>
            <a:r>
              <a:rPr lang="el-GR" sz="2800" b="1" dirty="0"/>
              <a:t>Isolation Forest</a:t>
            </a:r>
            <a:r>
              <a:rPr lang="el-GR" sz="2800" dirty="0"/>
              <a:t>, καταφέραμε να εντοπίσουμε </a:t>
            </a:r>
            <a:r>
              <a:rPr lang="el-GR" sz="2800" b="1" dirty="0"/>
              <a:t>μοτίβα αποκλίνουσας κινητικότητας</a:t>
            </a:r>
            <a:r>
              <a:rPr lang="el-GR" sz="2800" dirty="0"/>
              <a:t> που διαφέρουν είτε </a:t>
            </a:r>
            <a:r>
              <a:rPr lang="el-GR" sz="2800" b="1" dirty="0"/>
              <a:t>ομαδικά</a:t>
            </a:r>
            <a:r>
              <a:rPr lang="el-GR" sz="2800" dirty="0"/>
              <a:t> είτε </a:t>
            </a:r>
            <a:r>
              <a:rPr lang="el-GR" sz="2800" b="1" dirty="0"/>
              <a:t>μεμονωμένα</a:t>
            </a:r>
            <a:r>
              <a:rPr lang="el-GR" sz="2800" b="1" dirty="0" smtClean="0"/>
              <a:t>.</a:t>
            </a:r>
          </a:p>
          <a:p>
            <a:pPr marL="0" indent="0">
              <a:buNone/>
            </a:pPr>
            <a:endParaRPr lang="el-GR" sz="28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l-GR" sz="2800" dirty="0" smtClean="0"/>
              <a:t>Συνεπώς</a:t>
            </a:r>
            <a:r>
              <a:rPr lang="el-GR" sz="3000" dirty="0" smtClean="0"/>
              <a:t>,</a:t>
            </a:r>
            <a:r>
              <a:rPr lang="el-GR" sz="2800" dirty="0" smtClean="0"/>
              <a:t> η </a:t>
            </a:r>
            <a:r>
              <a:rPr lang="el-GR" sz="2800" dirty="0"/>
              <a:t>διαδικασία ανίχνευσης ανωμαλιών ανέδειξε ότι υπάρχει </a:t>
            </a:r>
            <a:r>
              <a:rPr lang="el-GR" sz="2800" b="1" dirty="0"/>
              <a:t>σαφής συσχέτιση μεταξύ της ανθρώπινης δραστηριότητας και της συμπεριφοράς του δικτύου</a:t>
            </a:r>
            <a:r>
              <a:rPr lang="el-GR" sz="2800" dirty="0"/>
              <a:t>. Συγκεκριμένες χρονικές περίοδοι με έντονη κινητικότητα</a:t>
            </a:r>
            <a:r>
              <a:rPr lang="el-GR" sz="2800" dirty="0" smtClean="0"/>
              <a:t>, λόγω κοινωνικών γεγονότων</a:t>
            </a:r>
            <a:r>
              <a:rPr lang="el-GR" sz="2800" dirty="0"/>
              <a:t>, </a:t>
            </a:r>
            <a:r>
              <a:rPr lang="el-GR" sz="2800" b="1" dirty="0"/>
              <a:t>αντανακλώνται δυναμικά στην κίνηση των δεδομένων</a:t>
            </a:r>
            <a:r>
              <a:rPr lang="el-GR" sz="2800" dirty="0"/>
              <a:t>. Αυτό αποδεικνύει ότι τα μοντέλα ανίχνευσης ανωμαλιών μπορούν να λειτουργήσουν </a:t>
            </a:r>
            <a:r>
              <a:rPr lang="el-GR" sz="2800" b="1" dirty="0"/>
              <a:t>ως </a:t>
            </a:r>
            <a:r>
              <a:rPr lang="el-GR" sz="2800" b="1" dirty="0" smtClean="0"/>
              <a:t>αισθητήρες ψηφιακής </a:t>
            </a:r>
            <a:r>
              <a:rPr lang="el-GR" sz="2800" b="1" dirty="0"/>
              <a:t>συμπεριφοράς</a:t>
            </a:r>
            <a:r>
              <a:rPr lang="el-GR" sz="2800" dirty="0"/>
              <a:t>, προσφέροντας πολύτιμες πληροφορίες για την παρακολούθηση και κατανόηση της αλληλεπίδρασης του πληθυσμού με το δίκτυο σε πραγματικό χρόνο</a:t>
            </a:r>
            <a:r>
              <a:rPr lang="el-GR" sz="2800" dirty="0" smtClean="0"/>
              <a:t>.</a:t>
            </a:r>
          </a:p>
          <a:p>
            <a:pPr marL="0" indent="0">
              <a:buNone/>
            </a:pPr>
            <a:endParaRPr lang="el-GR" sz="2800" dirty="0" smtClean="0"/>
          </a:p>
          <a:p>
            <a:pPr marL="0" indent="0">
              <a:buNone/>
            </a:pPr>
            <a:r>
              <a:rPr lang="el-GR" sz="2800" dirty="0" smtClean="0"/>
              <a:t>Η </a:t>
            </a:r>
            <a:r>
              <a:rPr lang="el-GR" sz="2800" dirty="0"/>
              <a:t>ανίχνευση ανωμαλιών δεν είναι απλώς τεχνική διαδικασία — είναι ένα ισχυρό μέσο </a:t>
            </a:r>
            <a:r>
              <a:rPr lang="el-GR" sz="2800" b="1" dirty="0"/>
              <a:t>για την κατανόηση του "μη φυσιολογικού"</a:t>
            </a:r>
            <a:r>
              <a:rPr lang="el-GR" sz="2800" dirty="0"/>
              <a:t> σε οποιοδήποτε πλαίσιο δεδομένων.</a:t>
            </a:r>
          </a:p>
          <a:p>
            <a:endParaRPr lang="el-GR" sz="5000" dirty="0"/>
          </a:p>
        </p:txBody>
      </p:sp>
    </p:spTree>
    <p:extLst>
      <p:ext uri="{BB962C8B-B14F-4D97-AF65-F5344CB8AC3E}">
        <p14:creationId xmlns:p14="http://schemas.microsoft.com/office/powerpoint/2010/main" val="2785002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66BF9EE-F7AC-4FA5-AC7E-001B3A642F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" y="228600"/>
            <a:ext cx="2138642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3B48D182-44E3-4D8B-ACEF-F1A900BE44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355A535A-A489-477F-A314-593AA8CAFB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954C2D4C-FD83-4EF4-9312-04442ABD66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20701C2-CD9A-4698-BC97-E1085820C2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62575C35-466F-42AE-87A1-D691849AB8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xmlns="" id="{58236F37-6119-45AC-80A0-CD2C311B50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FDD799-39FE-4D6F-9A64-2F472B2150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9820D241-1D49-442C-A95A-00BC1BF9E2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xmlns="" id="{EBC2197C-B383-4866-8ABD-74222400BE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404B06AA-FC93-4471-9DE4-56A401E70A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E580600C-013F-4FAF-8FB7-4CC0FA80A9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9BFCF199-64B2-4AEE-88C4-E954ABF362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E312DBA5-56D8-42B2-BA94-28168C2A67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0419" y="-786"/>
            <a:ext cx="1767506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xmlns="" id="{7AD46C74-3117-46B0-B267-0F61B57CAC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xmlns="" id="{8C13B810-9664-45D8-8510-D6ED0ADD72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xmlns="" id="{10306E52-A922-4458-BCCE-C3C840CC75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xmlns="" id="{CB578819-B7E7-4250-932F-52AE2A2A9A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xmlns="" id="{454B9C91-B623-424A-B16E-F764F189D3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xmlns="" id="{EFD03C4A-8484-41E6-B458-032F1DCA70A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xmlns="" id="{DDC2F3C3-1D4E-4913-9C5C-F9A65B47E5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xmlns="" id="{1E15BCA2-2420-4C53-ADE9-40FBAC2384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xmlns="" id="{73D5FBF4-7129-4C51-B603-E3BC334195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xmlns="" id="{0165B164-CE2A-494C-88FC-507232B37C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xmlns="" id="{87F127E5-B10B-4D18-BCF0-E7C3C7F401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xmlns="" id="{FC692D59-F28D-4E42-B435-225F2C6CFA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x-none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1996130F-9AB5-4DE9-8574-3AF891C5C1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xmlns="" id="{3623DEAC-F39C-45D6-86DC-1033F64295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x-none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xmlns="" id="{A692209D-B607-46C3-8560-07AF722916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94874638-CF15-4908-BC4B-4908744D0B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-1" y="0"/>
            <a:ext cx="3479801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8DF6A5F-64FC-7647-591D-5BBE541301AE}"/>
              </a:ext>
            </a:extLst>
          </p:cNvPr>
          <p:cNvSpPr txBox="1"/>
          <p:nvPr/>
        </p:nvSpPr>
        <p:spPr>
          <a:xfrm>
            <a:off x="364436" y="411137"/>
            <a:ext cx="2834153" cy="30658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Σας </a:t>
            </a:r>
            <a:r>
              <a:rPr lang="el-GR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ευχαριστούμε</a:t>
            </a:r>
            <a:r>
              <a:rPr lang="en-US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l-GR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πολύ</a:t>
            </a:r>
            <a:r>
              <a:rPr lang="en-US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l-GR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για</a:t>
            </a:r>
            <a:r>
              <a:rPr lang="en-US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 την προσοχή σας.</a:t>
            </a:r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xmlns="" id="{5F1B8348-CD6E-4561-A704-C232D9A2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grayWhite">
          <a:xfrm>
            <a:off x="0" y="5033008"/>
            <a:ext cx="4053017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 descr="A handshake with a logo&#10;&#10;Description automatically generated">
            <a:extLst>
              <a:ext uri="{FF2B5EF4-FFF2-40B4-BE49-F238E27FC236}">
                <a16:creationId xmlns:a16="http://schemas.microsoft.com/office/drawing/2014/main" xmlns="" id="{C52D2B1A-EB73-AEAF-94A8-13C268F4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257" y="1185275"/>
            <a:ext cx="3697851" cy="426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97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Δικαιοσύνη">
  <a:themeElements>
    <a:clrScheme name="Δικαιοσύνη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Δικαιοσύνη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Δικαιοσύνη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5629</TotalTime>
  <Words>1174</Words>
  <Application>Microsoft Office PowerPoint</Application>
  <PresentationFormat>Προβολή στην οθόνη (4:3)</PresentationFormat>
  <Paragraphs>111</Paragraphs>
  <Slides>18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18</vt:i4>
      </vt:variant>
    </vt:vector>
  </HeadingPairs>
  <TitlesOfParts>
    <vt:vector size="19" baseType="lpstr">
      <vt:lpstr>Δικαιοσύνη</vt:lpstr>
      <vt:lpstr>Ανίχνευση Ανώμαλων Μοτίβων Κινητικότητας Σε Χωρική Χρονική Δραστηριότητα 5G</vt:lpstr>
      <vt:lpstr>Anomaly Detection σε Δίκτυα 5G</vt:lpstr>
      <vt:lpstr>Ανάλυση Milano Dataset</vt:lpstr>
      <vt:lpstr>Ορισμός και Μελέτη τεχνικών ανίχνευσης ανωμαλιών</vt:lpstr>
      <vt:lpstr>Προεπεξεργασία Δεδομένων</vt:lpstr>
      <vt:lpstr>Εφαρμογή Τεχνικών Ανίχνευσης Ανωμαλιών</vt:lpstr>
      <vt:lpstr>Εφαρμογή Τεχνικών Ανίχνευσης Ανωμαλιών – Top 30 ημέρες (all grids)</vt:lpstr>
      <vt:lpstr>Ανωμαλίες ανά ώρα και ημέρα DBSCAN vs Isolation Forest (university area)</vt:lpstr>
      <vt:lpstr>Εστίαση σε συγκεκριμένα grids – University Area (DBSCAN)</vt:lpstr>
      <vt:lpstr>Εστίαση σε συγκεκριμένα grids – University Area (Isolation Forest)</vt:lpstr>
      <vt:lpstr>Εστίαση σε συγκεκριμένα grids – Shopping Area (DBSCAN(1) -  Isolation Forest(2))</vt:lpstr>
      <vt:lpstr>Εστίαση σε συγκεκριμένα grids – Milano Airport (DBSCAN(1) -  Isolation Forest(2))</vt:lpstr>
      <vt:lpstr>Εστίαση σε συγκεκριμένα grids – Hospital Area (DBSCAN(1) -  Isolation Forest(2))</vt:lpstr>
      <vt:lpstr>Αξιολόγηση και Ερμηνεία Ανωμαλιών</vt:lpstr>
      <vt:lpstr>Οπτικοποίηση Αποτελεσμάτων</vt:lpstr>
      <vt:lpstr>Οπτικοποίηση Αποτελεσμάτων</vt:lpstr>
      <vt:lpstr>Γενικό Συμπέρασμα</vt:lpstr>
      <vt:lpstr>Παρουσίαση του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Ανίχνευση Ανώμαλων Μοτίβων Κινητικότητας Σε Χωρική Χρονική Δραστηριότητα 5G</dc:title>
  <dc:creator>User</dc:creator>
  <cp:lastModifiedBy>User</cp:lastModifiedBy>
  <cp:revision>63</cp:revision>
  <dcterms:created xsi:type="dcterms:W3CDTF">2025-04-04T15:37:58Z</dcterms:created>
  <dcterms:modified xsi:type="dcterms:W3CDTF">2025-05-20T08:54:05Z</dcterms:modified>
</cp:coreProperties>
</file>